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20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006840" y="1371600"/>
            <a:ext cx="2514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107321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CA-3  ·  APPLICATION PROPOSAL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40156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Parking Management System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40080" y="4005072"/>
            <a:ext cx="7726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C++ console application for vehicle entry/exit,</a:t>
            </a:r>
            <a:endParaRPr lang="en-US" sz="13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allocation, bill calculation and parking history —</a:t>
            </a:r>
            <a:endParaRPr lang="en-US" sz="132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classes, inheritance and file handling.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40080" y="61722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Vinayak  ·  Roll No. 2506033  ·  SY B.Tech AI/ML  ·  IICT, MGM University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F2E21D-F2BF-0980-D2B3-2A29E289B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30" y="1627789"/>
            <a:ext cx="7153275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55648"/>
            <a:ext cx="4709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parking operations rely on paper logs and verbal checks. The supplied project design highlights three core needs: knowing where a vehicle is parked, calculating its bill, and retaining parking history.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96112" y="3840480"/>
            <a:ext cx="4709160" cy="1298448"/>
          </a:xfrm>
          <a:prstGeom prst="roundRect">
            <a:avLst>
              <a:gd name="adj" fmla="val 3521"/>
            </a:avLst>
          </a:prstGeom>
          <a:solidFill>
            <a:srgbClr val="FAFAFB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" y="40690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33856" y="4352544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C++ console application that connects the main menu, vehicle records, parking location, billing and history through persistent records and an ASCII parking layout.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291072" y="1417320"/>
            <a:ext cx="5330952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50980" y="1758940"/>
            <a:ext cx="542056" cy="54205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0" descr="/mnt/data/smartpark_assets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568" y="1844528"/>
            <a:ext cx="370881" cy="37088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79792" y="16550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slot information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7479792" y="1975104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stored record, staff can lose track of the number plate and its parking location.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6291072" y="2999232"/>
            <a:ext cx="5330952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50980" y="3340852"/>
            <a:ext cx="542056" cy="54205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8" name="Image 1" descr="/mnt/data/smartpark_assets/icons/recei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568" y="3426440"/>
            <a:ext cx="370881" cy="37088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79792" y="323697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billing</a:t>
            </a:r>
            <a:endParaRPr lang="en-US" sz="1320" dirty="0"/>
          </a:p>
        </p:txBody>
      </p:sp>
      <p:sp>
        <p:nvSpPr>
          <p:cNvPr id="20" name="Text 16"/>
          <p:cNvSpPr/>
          <p:nvPr/>
        </p:nvSpPr>
        <p:spPr>
          <a:xfrm>
            <a:off x="7479792" y="355701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calculation is separated from the stored parking record, making exit processing harder to manage.</a:t>
            </a:r>
            <a:endParaRPr lang="en-US" sz="1020" dirty="0"/>
          </a:p>
        </p:txBody>
      </p:sp>
      <p:sp>
        <p:nvSpPr>
          <p:cNvPr id="21" name="Shape 17"/>
          <p:cNvSpPr/>
          <p:nvPr/>
        </p:nvSpPr>
        <p:spPr>
          <a:xfrm>
            <a:off x="6291072" y="4581144"/>
            <a:ext cx="5330952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650980" y="4922764"/>
            <a:ext cx="542056" cy="54205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4" name="Image 2" descr="/mnt/data/smartpark_assets/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6568" y="5008352"/>
            <a:ext cx="370881" cy="37088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479792" y="4818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 view</a:t>
            </a:r>
            <a:endParaRPr lang="en-US" sz="1320" dirty="0"/>
          </a:p>
        </p:txBody>
      </p:sp>
      <p:sp>
        <p:nvSpPr>
          <p:cNvPr id="26" name="Text 21"/>
          <p:cNvSpPr/>
          <p:nvPr/>
        </p:nvSpPr>
        <p:spPr>
          <a:xfrm>
            <a:off x="7479792" y="513892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history option is needed to retrieve earlier parking records from storage.</a:t>
            </a:r>
            <a:endParaRPr lang="en-US" sz="1020" dirty="0"/>
          </a:p>
        </p:txBody>
      </p:sp>
      <p:sp>
        <p:nvSpPr>
          <p:cNvPr id="27" name="Text 22"/>
          <p:cNvSpPr/>
          <p:nvPr/>
        </p:nvSpPr>
        <p:spPr>
          <a:xfrm>
            <a:off x="566928" y="646480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 ·  Vehicle Parking Management System  ·  OOP CA-3</a:t>
            </a:r>
            <a:endParaRPr lang="en-US" sz="820" dirty="0"/>
          </a:p>
        </p:txBody>
      </p:sp>
      <p:sp>
        <p:nvSpPr>
          <p:cNvPr id="28" name="Shape 23"/>
          <p:cNvSpPr/>
          <p:nvPr/>
        </p:nvSpPr>
        <p:spPr>
          <a:xfrm>
            <a:off x="11478463" y="6355080"/>
            <a:ext cx="310896" cy="3108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1478463" y="6355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Automate, track, bill, and preserve.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436" y="2103852"/>
            <a:ext cx="583753" cy="58375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7" name="Image 0" descr="/mnt/data/smartpark_assets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607" y="2196023"/>
            <a:ext cx="399410" cy="3994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56816" y="197510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parking space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956816" y="237744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vehicle using its number plate and assign where it is parked.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263640" y="1627632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66708" y="2103852"/>
            <a:ext cx="583753" cy="58375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3" name="Image 1" descr="/mnt/data/smartpark_assets/icons/c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879" y="2196023"/>
            <a:ext cx="399410" cy="3994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62088" y="197510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parked vehicles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562088" y="237744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direct “see parked vehicle” view from the main menu.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658368" y="37033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061436" y="4179540"/>
            <a:ext cx="583753" cy="58375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9" name="Image 2" descr="/mnt/data/smartpark_assets/icons/recei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607" y="4271711"/>
            <a:ext cx="399410" cy="39941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56816" y="40507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bill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956816" y="445312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the parking charge from the vehicle parking record.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6263640" y="37033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666708" y="4179540"/>
            <a:ext cx="583753" cy="58375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5" name="Image 3" descr="/mnt/data/smartpark_assets/icons/repor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879" y="4271711"/>
            <a:ext cx="399410" cy="39941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62088" y="40507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history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562088" y="445312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display previous parking records and the parking layout/log.</a:t>
            </a:r>
            <a:endParaRPr lang="en-US" sz="1080" dirty="0"/>
          </a:p>
        </p:txBody>
      </p:sp>
      <p:sp>
        <p:nvSpPr>
          <p:cNvPr id="28" name="Text 22"/>
          <p:cNvSpPr/>
          <p:nvPr/>
        </p:nvSpPr>
        <p:spPr>
          <a:xfrm>
            <a:off x="566928" y="646480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 ·  Vehicle Parking Management System  ·  OOP CA-3</a:t>
            </a:r>
            <a:endParaRPr lang="en-US" sz="820" dirty="0"/>
          </a:p>
        </p:txBody>
      </p:sp>
      <p:sp>
        <p:nvSpPr>
          <p:cNvPr id="29" name="Shape 23"/>
          <p:cNvSpPr/>
          <p:nvPr/>
        </p:nvSpPr>
        <p:spPr>
          <a:xfrm>
            <a:off x="11478463" y="6355080"/>
            <a:ext cx="310896" cy="3108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1478463" y="6355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this system for?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1755648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58061" y="2196389"/>
            <a:ext cx="764438" cy="76443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7" name="Image 0" descr="/mnt/data/smartpark_assets/icons/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762" y="2317090"/>
            <a:ext cx="523037" cy="5230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34015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05840" y="3867912"/>
            <a:ext cx="24505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the parking data and reviews stored parking records.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87952" y="1755648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87645" y="2196389"/>
            <a:ext cx="764438" cy="76443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3" name="Image 1" descr="/mnt/data/smartpark_assets/icons/oper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346" y="2317090"/>
            <a:ext cx="523037" cy="5230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0" y="34015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Operator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35424" y="3867912"/>
            <a:ext cx="24505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console to add vehicles, view parked vehicles and calculate bills.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717536" y="1755648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917229" y="2196389"/>
            <a:ext cx="764438" cy="76443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9" name="Image 2" descr="/mnt/data/smartpark_assets/icons/ow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7930" y="2317090"/>
            <a:ext cx="523037" cy="52303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918704" y="34015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Owner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065008" y="3867912"/>
            <a:ext cx="24505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Vehicle-side use is represented by the stored number plate and parking location information.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66928" y="646480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 ·  Vehicle Parking Management System  ·  OOP CA-3</a:t>
            </a:r>
            <a:endParaRPr lang="en-US" sz="820" dirty="0"/>
          </a:p>
        </p:txBody>
      </p:sp>
      <p:sp>
        <p:nvSpPr>
          <p:cNvPr id="23" name="Shape 18"/>
          <p:cNvSpPr/>
          <p:nvPr/>
        </p:nvSpPr>
        <p:spPr>
          <a:xfrm>
            <a:off x="11478463" y="6355080"/>
            <a:ext cx="310896" cy="3108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1478463" y="6355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Modules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3909060" y="1202436"/>
            <a:ext cx="4069080" cy="594360"/>
          </a:xfrm>
          <a:prstGeom prst="roundRect">
            <a:avLst>
              <a:gd name="adj" fmla="val 12308"/>
            </a:avLst>
          </a:prstGeom>
          <a:solidFill>
            <a:srgbClr val="F5A623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09060" y="119329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SETUP DATABASE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flipH="1">
            <a:off x="6095905" y="1759763"/>
            <a:ext cx="3145" cy="347472"/>
          </a:xfrm>
          <a:prstGeom prst="line">
            <a:avLst/>
          </a:prstGeom>
          <a:noFill/>
          <a:ln w="20320">
            <a:solidFill>
              <a:srgbClr val="1FAFA0"/>
            </a:solidFill>
            <a:prstDash val="solid"/>
          </a:ln>
        </p:spPr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F695EA2-2674-66E5-B250-6E2106245C50}"/>
              </a:ext>
            </a:extLst>
          </p:cNvPr>
          <p:cNvGrpSpPr/>
          <p:nvPr/>
        </p:nvGrpSpPr>
        <p:grpSpPr>
          <a:xfrm>
            <a:off x="3995928" y="2107235"/>
            <a:ext cx="4069080" cy="658368"/>
            <a:chOff x="4069080" y="2267712"/>
            <a:chExt cx="4069080" cy="658368"/>
          </a:xfrm>
        </p:grpSpPr>
        <p:sp>
          <p:nvSpPr>
            <p:cNvPr id="7" name="Shape 5"/>
            <p:cNvSpPr/>
            <p:nvPr/>
          </p:nvSpPr>
          <p:spPr>
            <a:xfrm>
              <a:off x="4069080" y="2267712"/>
              <a:ext cx="4069080" cy="658368"/>
            </a:xfrm>
            <a:prstGeom prst="roundRect">
              <a:avLst>
                <a:gd name="adj" fmla="val 11111"/>
              </a:avLst>
            </a:prstGeom>
            <a:solidFill>
              <a:srgbClr val="20242C"/>
            </a:solidFill>
            <a:ln w="12700">
              <a:solidFill>
                <a:srgbClr val="20242C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4069080" y="2267712"/>
              <a:ext cx="406908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SMARTPARK MAIN MENU</a:t>
              </a:r>
              <a:endParaRPr lang="en-US" sz="1400" dirty="0"/>
            </a:p>
          </p:txBody>
        </p:sp>
      </p:grpSp>
      <p:sp>
        <p:nvSpPr>
          <p:cNvPr id="9" name="Shape 7"/>
          <p:cNvSpPr/>
          <p:nvPr/>
        </p:nvSpPr>
        <p:spPr>
          <a:xfrm flipV="1">
            <a:off x="1490472" y="2926080"/>
            <a:ext cx="7560260" cy="914"/>
          </a:xfrm>
          <a:prstGeom prst="line">
            <a:avLst/>
          </a:prstGeom>
          <a:noFill/>
          <a:ln w="17780">
            <a:solidFill>
              <a:srgbClr val="1FAF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77600" y="3517880"/>
            <a:ext cx="389169" cy="389169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4CB5A10-F383-4EB8-68A2-9CFA46DF0546}"/>
              </a:ext>
            </a:extLst>
          </p:cNvPr>
          <p:cNvGrpSpPr/>
          <p:nvPr/>
        </p:nvGrpSpPr>
        <p:grpSpPr>
          <a:xfrm>
            <a:off x="502920" y="2926080"/>
            <a:ext cx="1975104" cy="1764792"/>
            <a:chOff x="502920" y="2926080"/>
            <a:chExt cx="1975104" cy="1764792"/>
          </a:xfrm>
        </p:grpSpPr>
        <p:sp>
          <p:nvSpPr>
            <p:cNvPr id="10" name="Shape 8"/>
            <p:cNvSpPr/>
            <p:nvPr/>
          </p:nvSpPr>
          <p:spPr>
            <a:xfrm>
              <a:off x="1490472" y="2926080"/>
              <a:ext cx="914" cy="347472"/>
            </a:xfrm>
            <a:prstGeom prst="line">
              <a:avLst/>
            </a:prstGeom>
            <a:noFill/>
            <a:ln w="17780">
              <a:solidFill>
                <a:srgbClr val="1FAFA0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502920" y="3273552"/>
              <a:ext cx="1975104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F5A623"/>
              </a:solidFill>
              <a:prstDash val="solid"/>
            </a:ln>
          </p:spPr>
        </p:sp>
        <p:pic>
          <p:nvPicPr>
            <p:cNvPr id="14" name="Image 0" descr="/mnt/data/smartpark_assets/icons/ca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9047" y="3579327"/>
              <a:ext cx="266273" cy="266273"/>
            </a:xfrm>
            <a:prstGeom prst="rect">
              <a:avLst/>
            </a:prstGeom>
          </p:spPr>
        </p:pic>
        <p:sp>
          <p:nvSpPr>
            <p:cNvPr id="15" name="Text 12"/>
            <p:cNvSpPr/>
            <p:nvPr/>
          </p:nvSpPr>
          <p:spPr>
            <a:xfrm>
              <a:off x="612648" y="4069080"/>
              <a:ext cx="175564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2024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ADD VEHICLE</a:t>
              </a:r>
              <a:endParaRPr lang="en-US" sz="105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649224" y="4370832"/>
              <a:ext cx="168249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7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Number plate +</a:t>
              </a:r>
              <a:endParaRPr lang="en-US" sz="870" dirty="0"/>
            </a:p>
            <a:p>
              <a:pPr marL="0" indent="0" algn="ctr">
                <a:buNone/>
              </a:pPr>
              <a:r>
                <a:rPr lang="en-US" sz="87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vehicle category</a:t>
              </a:r>
              <a:endParaRPr lang="en-US" sz="870" dirty="0"/>
            </a:p>
          </p:txBody>
        </p:sp>
      </p:grpSp>
      <p:sp>
        <p:nvSpPr>
          <p:cNvPr id="17" name="Shape 14"/>
          <p:cNvSpPr/>
          <p:nvPr/>
        </p:nvSpPr>
        <p:spPr>
          <a:xfrm>
            <a:off x="3941064" y="2926080"/>
            <a:ext cx="914" cy="347472"/>
          </a:xfrm>
          <a:prstGeom prst="line">
            <a:avLst/>
          </a:prstGeom>
          <a:noFill/>
          <a:ln w="17780">
            <a:solidFill>
              <a:srgbClr val="1FAFA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953512" y="3273552"/>
            <a:ext cx="197510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28192" y="3517880"/>
            <a:ext cx="389169" cy="389169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1" name="Image 1" descr="/mnt/data/smartpark_assets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9639" y="3579327"/>
            <a:ext cx="266273" cy="26627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063240" y="406908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PARKED VEHICLE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099816" y="43708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stored plate +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location</a:t>
            </a:r>
            <a:endParaRPr lang="en-US" sz="870" dirty="0"/>
          </a:p>
        </p:txBody>
      </p:sp>
      <p:sp>
        <p:nvSpPr>
          <p:cNvPr id="24" name="Shape 20"/>
          <p:cNvSpPr/>
          <p:nvPr/>
        </p:nvSpPr>
        <p:spPr>
          <a:xfrm>
            <a:off x="6501384" y="2926080"/>
            <a:ext cx="914" cy="347472"/>
          </a:xfrm>
          <a:prstGeom prst="line">
            <a:avLst/>
          </a:prstGeom>
          <a:noFill/>
          <a:ln w="17780">
            <a:solidFill>
              <a:srgbClr val="1FAFA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513832" y="3273552"/>
            <a:ext cx="197510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288512" y="3517880"/>
            <a:ext cx="389169" cy="389169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8" name="Image 2" descr="/mnt/data/smartpark_assets/icons/recei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959" y="3579327"/>
            <a:ext cx="266273" cy="266273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623560" y="406908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BILL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5660136" y="43708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parking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lang="en-US" sz="870" dirty="0"/>
          </a:p>
        </p:txBody>
      </p:sp>
      <p:sp>
        <p:nvSpPr>
          <p:cNvPr id="31" name="Shape 26"/>
          <p:cNvSpPr/>
          <p:nvPr/>
        </p:nvSpPr>
        <p:spPr>
          <a:xfrm>
            <a:off x="9052560" y="2926080"/>
            <a:ext cx="914" cy="347472"/>
          </a:xfrm>
          <a:prstGeom prst="line">
            <a:avLst/>
          </a:prstGeom>
          <a:noFill/>
          <a:ln w="17780">
            <a:solidFill>
              <a:srgbClr val="1FAFA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065008" y="3273552"/>
            <a:ext cx="197510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839688" y="3517880"/>
            <a:ext cx="389169" cy="389169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5" name="Image 3" descr="/mnt/data/smartpark_assets/icons/repor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1135" y="3579327"/>
            <a:ext cx="266273" cy="266273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174736" y="406908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8211312" y="43708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previous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records</a:t>
            </a:r>
            <a:endParaRPr lang="en-US" sz="870" dirty="0"/>
          </a:p>
        </p:txBody>
      </p:sp>
      <p:sp>
        <p:nvSpPr>
          <p:cNvPr id="38" name="Shape 32"/>
          <p:cNvSpPr/>
          <p:nvPr/>
        </p:nvSpPr>
        <p:spPr>
          <a:xfrm>
            <a:off x="2011680" y="507492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FAFAFB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2011680" y="507492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DATABASE / RECORDS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(number plate + where parked)</a:t>
            </a:r>
            <a:endParaRPr lang="en-US" sz="980" dirty="0"/>
          </a:p>
        </p:txBody>
      </p:sp>
      <p:sp>
        <p:nvSpPr>
          <p:cNvPr id="40" name="Shape 34"/>
          <p:cNvSpPr/>
          <p:nvPr/>
        </p:nvSpPr>
        <p:spPr>
          <a:xfrm>
            <a:off x="6629400" y="507492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FAFAFB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629400" y="507492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LAYOUT + SMARTPARK LOG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(parking view + menu log)</a:t>
            </a:r>
            <a:endParaRPr lang="en-US" sz="980" dirty="0"/>
          </a:p>
        </p:txBody>
      </p:sp>
      <p:sp>
        <p:nvSpPr>
          <p:cNvPr id="42" name="Shape 36"/>
          <p:cNvSpPr/>
          <p:nvPr/>
        </p:nvSpPr>
        <p:spPr>
          <a:xfrm>
            <a:off x="3657600" y="4690872"/>
            <a:ext cx="914" cy="384048"/>
          </a:xfrm>
          <a:prstGeom prst="line">
            <a:avLst/>
          </a:prstGeom>
          <a:noFill/>
          <a:ln w="15875">
            <a:solidFill>
              <a:srgbClr val="1FAFA0"/>
            </a:solidFill>
            <a:prstDash val="dash"/>
          </a:ln>
        </p:spPr>
      </p:sp>
      <p:sp>
        <p:nvSpPr>
          <p:cNvPr id="43" name="Shape 37"/>
          <p:cNvSpPr/>
          <p:nvPr/>
        </p:nvSpPr>
        <p:spPr>
          <a:xfrm>
            <a:off x="8458200" y="4690872"/>
            <a:ext cx="914" cy="384048"/>
          </a:xfrm>
          <a:prstGeom prst="line">
            <a:avLst/>
          </a:prstGeom>
          <a:noFill/>
          <a:ln w="15875">
            <a:solidFill>
              <a:srgbClr val="1FAFA0"/>
            </a:solidFill>
            <a:prstDash val="dash"/>
          </a:ln>
        </p:spPr>
      </p:sp>
      <p:sp>
        <p:nvSpPr>
          <p:cNvPr id="44" name="Text 38"/>
          <p:cNvSpPr/>
          <p:nvPr/>
        </p:nvSpPr>
        <p:spPr>
          <a:xfrm>
            <a:off x="566928" y="646480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 ·  Vehicle Parking Management System  ·  OOP CA-3</a:t>
            </a:r>
            <a:endParaRPr lang="en-US" sz="820" dirty="0"/>
          </a:p>
        </p:txBody>
      </p:sp>
      <p:sp>
        <p:nvSpPr>
          <p:cNvPr id="45" name="Shape 39"/>
          <p:cNvSpPr/>
          <p:nvPr/>
        </p:nvSpPr>
        <p:spPr>
          <a:xfrm>
            <a:off x="11478463" y="6355080"/>
            <a:ext cx="310896" cy="3108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11478463" y="6355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DAE48DFA-D12A-A2D8-D91F-F60442F17946}"/>
              </a:ext>
            </a:extLst>
          </p:cNvPr>
          <p:cNvSpPr/>
          <p:nvPr/>
        </p:nvSpPr>
        <p:spPr>
          <a:xfrm>
            <a:off x="6098137" y="2788920"/>
            <a:ext cx="914" cy="137160"/>
          </a:xfrm>
          <a:prstGeom prst="line">
            <a:avLst/>
          </a:prstGeom>
          <a:noFill/>
          <a:ln w="17780">
            <a:solidFill>
              <a:srgbClr val="1FAFA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DETAIL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SMARTPARK FUNCTIONALITY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38912" y="1481328"/>
            <a:ext cx="2423160" cy="4315968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86596" y="1862084"/>
            <a:ext cx="500360" cy="500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8" name="Image 0" descr="/mnt/data/smartpark_assets/icons/c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600" y="1941088"/>
            <a:ext cx="342351" cy="3423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3504" y="262432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ENTRY</a:t>
            </a:r>
            <a:endParaRPr lang="en-US" sz="1170" dirty="0"/>
          </a:p>
        </p:txBody>
      </p:sp>
      <p:sp>
        <p:nvSpPr>
          <p:cNvPr id="11" name="Text 8"/>
          <p:cNvSpPr/>
          <p:nvPr/>
        </p:nvSpPr>
        <p:spPr>
          <a:xfrm>
            <a:off x="804672" y="32461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number plate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66928" y="3968496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EV / non-commercial / commercial / heavy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04672" y="467258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and store parking location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401568" y="1481328"/>
            <a:ext cx="2423160" cy="4315968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49252" y="1862084"/>
            <a:ext cx="500360" cy="500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0" name="Image 1" descr="/mnt/data/smartpark_assets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256" y="1941088"/>
            <a:ext cx="342351" cy="34235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566160" y="262432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PARKED VEHICLES</a:t>
            </a:r>
            <a:endParaRPr lang="en-US" sz="1170" dirty="0"/>
          </a:p>
        </p:txBody>
      </p:sp>
      <p:sp>
        <p:nvSpPr>
          <p:cNvPr id="23" name="Text 19"/>
          <p:cNvSpPr/>
          <p:nvPr/>
        </p:nvSpPr>
        <p:spPr>
          <a:xfrm>
            <a:off x="3767328" y="32461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stored vehicle records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767328" y="39593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number plate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3767328" y="467258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where the vehicle is parked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364224" y="1481328"/>
            <a:ext cx="2423160" cy="4315968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311908" y="1862084"/>
            <a:ext cx="500360" cy="500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2" name="Image 2" descr="/mnt/data/smartpark_assets/icons/recei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912" y="1941088"/>
            <a:ext cx="342351" cy="342351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528816" y="262432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70" dirty="0"/>
          </a:p>
        </p:txBody>
      </p:sp>
      <p:sp>
        <p:nvSpPr>
          <p:cNvPr id="35" name="Text 30"/>
          <p:cNvSpPr/>
          <p:nvPr/>
        </p:nvSpPr>
        <p:spPr>
          <a:xfrm>
            <a:off x="6729984" y="32461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vehicle record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6729984" y="39593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parking charge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6729984" y="467258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result to the main menu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9326880" y="1481328"/>
            <a:ext cx="2423160" cy="4315968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0274564" y="1862084"/>
            <a:ext cx="500360" cy="500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44" name="Image 3" descr="/mnt/data/smartpark_assets/icons/repor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568" y="1941088"/>
            <a:ext cx="342351" cy="342351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9491472" y="262432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+ LAYOUT</a:t>
            </a:r>
            <a:endParaRPr lang="en-US" sz="1170" dirty="0"/>
          </a:p>
        </p:txBody>
      </p:sp>
      <p:sp>
        <p:nvSpPr>
          <p:cNvPr id="47" name="Text 41"/>
          <p:cNvSpPr/>
          <p:nvPr/>
        </p:nvSpPr>
        <p:spPr>
          <a:xfrm>
            <a:off x="9692640" y="32461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previous parking history</a:t>
            </a:r>
            <a:endParaRPr lang="en-US" sz="950" dirty="0"/>
          </a:p>
        </p:txBody>
      </p:sp>
      <p:sp>
        <p:nvSpPr>
          <p:cNvPr id="49" name="Text 43"/>
          <p:cNvSpPr/>
          <p:nvPr/>
        </p:nvSpPr>
        <p:spPr>
          <a:xfrm>
            <a:off x="9692640" y="39593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ASCII file for wall/layout visualization</a:t>
            </a:r>
            <a:endParaRPr lang="en-US" sz="950" dirty="0"/>
          </a:p>
        </p:txBody>
      </p:sp>
      <p:sp>
        <p:nvSpPr>
          <p:cNvPr id="51" name="Text 45"/>
          <p:cNvSpPr/>
          <p:nvPr/>
        </p:nvSpPr>
        <p:spPr>
          <a:xfrm>
            <a:off x="9692640" y="467258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SmartPark log at the menu</a:t>
            </a:r>
            <a:endParaRPr lang="en-US" sz="950" dirty="0"/>
          </a:p>
        </p:txBody>
      </p:sp>
      <p:sp>
        <p:nvSpPr>
          <p:cNvPr id="52" name="Text 46"/>
          <p:cNvSpPr/>
          <p:nvPr/>
        </p:nvSpPr>
        <p:spPr>
          <a:xfrm>
            <a:off x="566928" y="646480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 ·  Vehicle Parking Management System  ·  OOP CA-3</a:t>
            </a:r>
            <a:endParaRPr lang="en-US" sz="820" dirty="0"/>
          </a:p>
        </p:txBody>
      </p:sp>
      <p:sp>
        <p:nvSpPr>
          <p:cNvPr id="53" name="Shape 47"/>
          <p:cNvSpPr/>
          <p:nvPr/>
        </p:nvSpPr>
        <p:spPr>
          <a:xfrm>
            <a:off x="11478463" y="6355080"/>
            <a:ext cx="310896" cy="3108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11478463" y="6355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 Concepts Applied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75488" y="1444752"/>
            <a:ext cx="3063240" cy="457200"/>
          </a:xfrm>
          <a:prstGeom prst="rect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4447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MODULE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3538728" y="1444752"/>
            <a:ext cx="2651760" cy="457200"/>
          </a:xfrm>
          <a:prstGeom prst="rect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38728" y="14447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CONCEPT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190488" y="1444752"/>
            <a:ext cx="5513832" cy="457200"/>
          </a:xfrm>
          <a:prstGeom prst="rect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0488" y="1444752"/>
            <a:ext cx="5513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USED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75488" y="1901952"/>
            <a:ext cx="30632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002536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/ Slot records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538728" y="1901952"/>
            <a:ext cx="26517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200253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190488" y="1901952"/>
            <a:ext cx="551383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2002536"/>
            <a:ext cx="5312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each parking entity as a self-contained object.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475488" y="2523744"/>
            <a:ext cx="3063240" cy="621792"/>
          </a:xfrm>
          <a:prstGeom prst="rect">
            <a:avLst/>
          </a:prstGeom>
          <a:solidFill>
            <a:srgbClr val="F0F1F3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624328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categories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3538728" y="2523744"/>
            <a:ext cx="2651760" cy="621792"/>
          </a:xfrm>
          <a:prstGeom prst="rect">
            <a:avLst/>
          </a:prstGeom>
          <a:solidFill>
            <a:srgbClr val="F0F1F3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9312" y="262432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+ Polymorphism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190488" y="2523744"/>
            <a:ext cx="5513832" cy="621792"/>
          </a:xfrm>
          <a:prstGeom prst="rect">
            <a:avLst/>
          </a:prstGeom>
          <a:solidFill>
            <a:srgbClr val="F0F1F3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2624328"/>
            <a:ext cx="5312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Vehicle behaviour can be specialized for two-wheeler, four-wheeler and heavy-vehicle cases.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75488" y="3145536"/>
            <a:ext cx="30632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24612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and billing data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3538728" y="3145536"/>
            <a:ext cx="26517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9312" y="324612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190488" y="3145536"/>
            <a:ext cx="551383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3246120"/>
            <a:ext cx="5312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number-plate, slot and billing state inside the responsible class.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475488" y="3767328"/>
            <a:ext cx="3063240" cy="621792"/>
          </a:xfrm>
          <a:prstGeom prst="rect">
            <a:avLst/>
          </a:prstGeom>
          <a:solidFill>
            <a:srgbClr val="F0F1F3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867912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vehicle / parking record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3538728" y="3767328"/>
            <a:ext cx="2651760" cy="621792"/>
          </a:xfrm>
          <a:prstGeom prst="rect">
            <a:avLst/>
          </a:prstGeom>
          <a:solidFill>
            <a:srgbClr val="F0F1F3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9312" y="386791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190488" y="3767328"/>
            <a:ext cx="5513832" cy="621792"/>
          </a:xfrm>
          <a:prstGeom prst="rect">
            <a:avLst/>
          </a:prstGeom>
          <a:solidFill>
            <a:srgbClr val="F0F1F3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3867912"/>
            <a:ext cx="5312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object state when a vehicle is added to the system.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475488" y="4389120"/>
            <a:ext cx="30632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4489704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+ ASCII layout + log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3538728" y="4389120"/>
            <a:ext cx="26517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39312" y="448970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6190488" y="4389120"/>
            <a:ext cx="551383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4489704"/>
            <a:ext cx="5312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records and read the layout/log data used by the application.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475488" y="5010912"/>
            <a:ext cx="3063240" cy="621792"/>
          </a:xfrm>
          <a:prstGeom prst="rect">
            <a:avLst/>
          </a:prstGeom>
          <a:solidFill>
            <a:srgbClr val="F0F1F3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" y="5111496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 / unavailable slot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3538728" y="5010912"/>
            <a:ext cx="2651760" cy="621792"/>
          </a:xfrm>
          <a:prstGeom prst="rect">
            <a:avLst/>
          </a:prstGeom>
          <a:solidFill>
            <a:srgbClr val="F0F1F3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39312" y="511149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6190488" y="5010912"/>
            <a:ext cx="5513832" cy="621792"/>
          </a:xfrm>
          <a:prstGeom prst="rect">
            <a:avLst/>
          </a:prstGeom>
          <a:solidFill>
            <a:srgbClr val="F0F1F3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5111496"/>
            <a:ext cx="5312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bad input or allocation failures without terminating the program.</a:t>
            </a:r>
            <a:endParaRPr lang="en-US" sz="960" dirty="0"/>
          </a:p>
        </p:txBody>
      </p:sp>
      <p:sp>
        <p:nvSpPr>
          <p:cNvPr id="46" name="Text 44"/>
          <p:cNvSpPr/>
          <p:nvPr/>
        </p:nvSpPr>
        <p:spPr>
          <a:xfrm>
            <a:off x="566928" y="646480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 ·  Vehicle Parking Management System  ·  OOP CA-3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11478463" y="6355080"/>
            <a:ext cx="310896" cy="3108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478463" y="6355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UML Class Structure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90288" y="1170432"/>
            <a:ext cx="301752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90288" y="1170432"/>
            <a:ext cx="3017520" cy="347472"/>
          </a:xfrm>
          <a:prstGeom prst="rect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90288" y="11704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00016" y="1609344"/>
            <a:ext cx="2798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numberPlate: string</a:t>
            </a:r>
            <a:endParaRPr lang="en-US" sz="770" dirty="0"/>
          </a:p>
        </p:txBody>
      </p:sp>
      <p:sp>
        <p:nvSpPr>
          <p:cNvPr id="8" name="Text 6"/>
          <p:cNvSpPr/>
          <p:nvPr/>
        </p:nvSpPr>
        <p:spPr>
          <a:xfrm>
            <a:off x="4700016" y="1792224"/>
            <a:ext cx="2798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bodyType: string</a:t>
            </a:r>
            <a:endParaRPr lang="en-US" sz="770" dirty="0"/>
          </a:p>
        </p:txBody>
      </p:sp>
      <p:sp>
        <p:nvSpPr>
          <p:cNvPr id="9" name="Text 7"/>
          <p:cNvSpPr/>
          <p:nvPr/>
        </p:nvSpPr>
        <p:spPr>
          <a:xfrm>
            <a:off x="4700016" y="1975104"/>
            <a:ext cx="2798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usageType: string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4700016" y="2157984"/>
            <a:ext cx="2798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parkedAt: string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4590288" y="2359152"/>
            <a:ext cx="3017520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2450592"/>
            <a:ext cx="2798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1FA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calculateBill()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4700016" y="2633472"/>
            <a:ext cx="2798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1FA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display()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621792" y="3703320"/>
            <a:ext cx="226771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3703320"/>
            <a:ext cx="2267712" cy="347472"/>
          </a:xfrm>
          <a:prstGeom prst="rect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70332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TwoWheeler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142232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wheelCount = 2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621792" y="4343400"/>
            <a:ext cx="2267712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434840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1FA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calculateBill()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3246120" y="3703320"/>
            <a:ext cx="226771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3703320"/>
            <a:ext cx="2267712" cy="347472"/>
          </a:xfrm>
          <a:prstGeom prst="rect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70332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FourWheeler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5848" y="4142232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wheelCount = 4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3246120" y="4343400"/>
            <a:ext cx="2267712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4434840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1FA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calculateBill()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>
            <a:off x="5870448" y="3703320"/>
            <a:ext cx="226771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70448" y="3703320"/>
            <a:ext cx="2267712" cy="347472"/>
          </a:xfrm>
          <a:prstGeom prst="rect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70448" y="370332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HeavyVehicle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0176" y="4142232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bodyType = heavy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5870448" y="4343400"/>
            <a:ext cx="2267712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0176" y="4434840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1FA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calculateBill()</a:t>
            </a:r>
            <a:endParaRPr lang="en-US" sz="770" dirty="0"/>
          </a:p>
        </p:txBody>
      </p:sp>
      <p:sp>
        <p:nvSpPr>
          <p:cNvPr id="32" name="Shape 30"/>
          <p:cNvSpPr/>
          <p:nvPr/>
        </p:nvSpPr>
        <p:spPr>
          <a:xfrm>
            <a:off x="8485632" y="3703320"/>
            <a:ext cx="2889504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85632" y="3703320"/>
            <a:ext cx="2889504" cy="347472"/>
          </a:xfrm>
          <a:prstGeom prst="rect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85632" y="3703320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ParkingRecord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95360" y="414223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entryTime</a:t>
            </a:r>
            <a:endParaRPr lang="en-US" sz="770" dirty="0"/>
          </a:p>
        </p:txBody>
      </p:sp>
      <p:sp>
        <p:nvSpPr>
          <p:cNvPr id="36" name="Text 34"/>
          <p:cNvSpPr/>
          <p:nvPr/>
        </p:nvSpPr>
        <p:spPr>
          <a:xfrm>
            <a:off x="8595360" y="432511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exitTime</a:t>
            </a:r>
            <a:endParaRPr lang="en-US" sz="770" dirty="0"/>
          </a:p>
        </p:txBody>
      </p:sp>
      <p:sp>
        <p:nvSpPr>
          <p:cNvPr id="37" name="Text 35"/>
          <p:cNvSpPr/>
          <p:nvPr/>
        </p:nvSpPr>
        <p:spPr>
          <a:xfrm>
            <a:off x="8595360" y="450799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</a:t>
            </a:r>
            <a:endParaRPr lang="en-US" sz="770" dirty="0"/>
          </a:p>
        </p:txBody>
      </p:sp>
      <p:sp>
        <p:nvSpPr>
          <p:cNvPr id="38" name="Shape 36"/>
          <p:cNvSpPr/>
          <p:nvPr/>
        </p:nvSpPr>
        <p:spPr>
          <a:xfrm>
            <a:off x="8485632" y="4709160"/>
            <a:ext cx="2889504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0" y="4800600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1FA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computeBill()</a:t>
            </a:r>
            <a:endParaRPr lang="en-US" sz="770" dirty="0"/>
          </a:p>
        </p:txBody>
      </p:sp>
      <p:sp>
        <p:nvSpPr>
          <p:cNvPr id="40" name="Shape 38"/>
          <p:cNvSpPr/>
          <p:nvPr/>
        </p:nvSpPr>
        <p:spPr>
          <a:xfrm flipV="1">
            <a:off x="1755648" y="3044952"/>
            <a:ext cx="3474720" cy="658368"/>
          </a:xfrm>
          <a:prstGeom prst="line">
            <a:avLst/>
          </a:prstGeom>
          <a:noFill/>
          <a:ln w="17780">
            <a:solidFill>
              <a:srgbClr val="20242C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4379976" y="3044952"/>
            <a:ext cx="1545336" cy="658368"/>
          </a:xfrm>
          <a:prstGeom prst="line">
            <a:avLst/>
          </a:prstGeom>
          <a:noFill/>
          <a:ln w="17780">
            <a:solidFill>
              <a:srgbClr val="20242C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H="1" flipV="1">
            <a:off x="6473952" y="3044952"/>
            <a:ext cx="530352" cy="658368"/>
          </a:xfrm>
          <a:prstGeom prst="line">
            <a:avLst/>
          </a:prstGeom>
          <a:noFill/>
          <a:ln w="17780">
            <a:solidFill>
              <a:srgbClr val="20242C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607808" y="1965960"/>
            <a:ext cx="2313432" cy="1737360"/>
          </a:xfrm>
          <a:prstGeom prst="line">
            <a:avLst/>
          </a:prstGeom>
          <a:noFill/>
          <a:ln w="15875">
            <a:solidFill>
              <a:srgbClr val="F5A623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621792" y="1170432"/>
            <a:ext cx="315468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" y="1170432"/>
            <a:ext cx="3154680" cy="347472"/>
          </a:xfrm>
          <a:prstGeom prst="rect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" y="11704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ParkingSystem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1520" y="1609344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menuChoice: int</a:t>
            </a:r>
            <a:endParaRPr lang="en-US" sz="770" dirty="0"/>
          </a:p>
        </p:txBody>
      </p:sp>
      <p:sp>
        <p:nvSpPr>
          <p:cNvPr id="48" name="Text 46"/>
          <p:cNvSpPr/>
          <p:nvPr/>
        </p:nvSpPr>
        <p:spPr>
          <a:xfrm>
            <a:off x="731520" y="1792224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records</a:t>
            </a:r>
            <a:endParaRPr lang="en-US" sz="770" dirty="0"/>
          </a:p>
        </p:txBody>
      </p:sp>
      <p:sp>
        <p:nvSpPr>
          <p:cNvPr id="49" name="Text 47"/>
          <p:cNvSpPr/>
          <p:nvPr/>
        </p:nvSpPr>
        <p:spPr>
          <a:xfrm>
            <a:off x="731520" y="1975104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layoutFile</a:t>
            </a:r>
            <a:endParaRPr lang="en-US" sz="770" dirty="0"/>
          </a:p>
        </p:txBody>
      </p:sp>
      <p:sp>
        <p:nvSpPr>
          <p:cNvPr id="50" name="Shape 48"/>
          <p:cNvSpPr/>
          <p:nvPr/>
        </p:nvSpPr>
        <p:spPr>
          <a:xfrm>
            <a:off x="621792" y="2176272"/>
            <a:ext cx="3154680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2267712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1FA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addVehicle()</a:t>
            </a:r>
            <a:endParaRPr lang="en-US" sz="770" dirty="0"/>
          </a:p>
        </p:txBody>
      </p:sp>
      <p:sp>
        <p:nvSpPr>
          <p:cNvPr id="52" name="Text 50"/>
          <p:cNvSpPr/>
          <p:nvPr/>
        </p:nvSpPr>
        <p:spPr>
          <a:xfrm>
            <a:off x="731520" y="2450592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1FA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showParked()</a:t>
            </a:r>
            <a:endParaRPr lang="en-US" sz="770" dirty="0"/>
          </a:p>
        </p:txBody>
      </p:sp>
      <p:sp>
        <p:nvSpPr>
          <p:cNvPr id="53" name="Text 51"/>
          <p:cNvSpPr/>
          <p:nvPr/>
        </p:nvSpPr>
        <p:spPr>
          <a:xfrm>
            <a:off x="731520" y="2633472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1FA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calculateBill()</a:t>
            </a:r>
            <a:endParaRPr lang="en-US" sz="770" dirty="0"/>
          </a:p>
        </p:txBody>
      </p:sp>
      <p:sp>
        <p:nvSpPr>
          <p:cNvPr id="54" name="Text 52"/>
          <p:cNvSpPr/>
          <p:nvPr/>
        </p:nvSpPr>
        <p:spPr>
          <a:xfrm>
            <a:off x="731520" y="2816352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1FA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showHistory()</a:t>
            </a:r>
            <a:endParaRPr lang="en-US" sz="770" dirty="0"/>
          </a:p>
        </p:txBody>
      </p:sp>
      <p:sp>
        <p:nvSpPr>
          <p:cNvPr id="55" name="Shape 53"/>
          <p:cNvSpPr/>
          <p:nvPr/>
        </p:nvSpPr>
        <p:spPr>
          <a:xfrm>
            <a:off x="3776472" y="1965960"/>
            <a:ext cx="813816" cy="914"/>
          </a:xfrm>
          <a:prstGeom prst="line">
            <a:avLst/>
          </a:prstGeom>
          <a:noFill/>
          <a:ln w="15875">
            <a:solidFill>
              <a:srgbClr val="F5A623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621792" y="5285232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lines = inheritance   ·   Dashed lines = association / use</a:t>
            </a:r>
            <a:endParaRPr lang="en-US" sz="930" dirty="0"/>
          </a:p>
        </p:txBody>
      </p:sp>
      <p:sp>
        <p:nvSpPr>
          <p:cNvPr id="57" name="Text 55"/>
          <p:cNvSpPr/>
          <p:nvPr/>
        </p:nvSpPr>
        <p:spPr>
          <a:xfrm>
            <a:off x="987552" y="5596128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category stays as a Vehicle attribute: EV / non-commercial / commercial. Body type is represented separately so EV can still be a 2- or 4-wheeler.</a:t>
            </a:r>
            <a:endParaRPr lang="en-US" sz="880" dirty="0"/>
          </a:p>
        </p:txBody>
      </p:sp>
      <p:sp>
        <p:nvSpPr>
          <p:cNvPr id="58" name="Text 56"/>
          <p:cNvSpPr/>
          <p:nvPr/>
        </p:nvSpPr>
        <p:spPr>
          <a:xfrm>
            <a:off x="566928" y="646480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 ·  Vehicle Parking Management System  ·  OOP CA-3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11478463" y="6355080"/>
            <a:ext cx="310896" cy="3108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478463" y="6355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Workflow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37480" y="1207008"/>
            <a:ext cx="1316736" cy="438912"/>
          </a:xfrm>
          <a:prstGeom prst="ellipse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37480" y="1207008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095848" y="1645920"/>
            <a:ext cx="914" cy="292608"/>
          </a:xfrm>
          <a:prstGeom prst="line">
            <a:avLst/>
          </a:prstGeom>
          <a:noFill/>
          <a:ln w="17780">
            <a:solidFill>
              <a:srgbClr val="20242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416552" y="1938528"/>
            <a:ext cx="3364992" cy="512064"/>
          </a:xfrm>
          <a:prstGeom prst="roundRect">
            <a:avLst>
              <a:gd name="adj" fmla="val 14286"/>
            </a:avLst>
          </a:prstGeom>
          <a:solidFill>
            <a:srgbClr val="F5A623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16552" y="193852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SETUP DATABASE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095848" y="2450592"/>
            <a:ext cx="914" cy="256032"/>
          </a:xfrm>
          <a:prstGeom prst="line">
            <a:avLst/>
          </a:prstGeom>
          <a:noFill/>
          <a:ln w="17780">
            <a:solidFill>
              <a:srgbClr val="20242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77640" y="2706624"/>
            <a:ext cx="4242816" cy="603504"/>
          </a:xfrm>
          <a:prstGeom prst="roundRect">
            <a:avLst>
              <a:gd name="adj" fmla="val 12121"/>
            </a:avLst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2706624"/>
            <a:ext cx="4242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MAIN MENU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95848" y="3310128"/>
            <a:ext cx="914" cy="274320"/>
          </a:xfrm>
          <a:prstGeom prst="line">
            <a:avLst/>
          </a:prstGeom>
          <a:noFill/>
          <a:ln w="17780">
            <a:solidFill>
              <a:srgbClr val="20242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847088" y="3584448"/>
            <a:ext cx="8394192" cy="914"/>
          </a:xfrm>
          <a:prstGeom prst="line">
            <a:avLst/>
          </a:prstGeom>
          <a:noFill/>
          <a:ln w="16510">
            <a:solidFill>
              <a:srgbClr val="2024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09928" y="3584448"/>
            <a:ext cx="914" cy="292608"/>
          </a:xfrm>
          <a:prstGeom prst="line">
            <a:avLst/>
          </a:prstGeom>
          <a:noFill/>
          <a:ln w="15875">
            <a:solidFill>
              <a:srgbClr val="20242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4360" y="3877056"/>
            <a:ext cx="2231136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4041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VEHICLE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731520" y="4361688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plate + category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parking location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record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1709928" y="5102352"/>
            <a:ext cx="914" cy="237744"/>
          </a:xfrm>
          <a:prstGeom prst="line">
            <a:avLst/>
          </a:prstGeom>
          <a:noFill/>
          <a:ln w="13335">
            <a:solidFill>
              <a:srgbClr val="20242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17136" y="3584448"/>
            <a:ext cx="914" cy="292608"/>
          </a:xfrm>
          <a:prstGeom prst="line">
            <a:avLst/>
          </a:prstGeom>
          <a:noFill/>
          <a:ln w="15875">
            <a:solidFill>
              <a:srgbClr val="20242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401568" y="3877056"/>
            <a:ext cx="2231136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11296" y="4041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PARKED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3538728" y="4361688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stored records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plate + location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4517136" y="5102352"/>
            <a:ext cx="914" cy="237744"/>
          </a:xfrm>
          <a:prstGeom prst="line">
            <a:avLst/>
          </a:prstGeom>
          <a:noFill/>
          <a:ln w="13335">
            <a:solidFill>
              <a:srgbClr val="20242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24344" y="3584448"/>
            <a:ext cx="914" cy="292608"/>
          </a:xfrm>
          <a:prstGeom prst="line">
            <a:avLst/>
          </a:prstGeom>
          <a:noFill/>
          <a:ln w="15875">
            <a:solidFill>
              <a:srgbClr val="20242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08776" y="3877056"/>
            <a:ext cx="2231136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18504" y="4041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BILL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6345936" y="4361688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vehicle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parking charge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result</a:t>
            </a:r>
            <a:endParaRPr lang="en-US" sz="890" dirty="0"/>
          </a:p>
        </p:txBody>
      </p:sp>
      <p:sp>
        <p:nvSpPr>
          <p:cNvPr id="28" name="Shape 26"/>
          <p:cNvSpPr/>
          <p:nvPr/>
        </p:nvSpPr>
        <p:spPr>
          <a:xfrm>
            <a:off x="7324344" y="5102352"/>
            <a:ext cx="914" cy="237744"/>
          </a:xfrm>
          <a:prstGeom prst="line">
            <a:avLst/>
          </a:prstGeom>
          <a:noFill/>
          <a:ln w="13335">
            <a:solidFill>
              <a:srgbClr val="20242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31552" y="3584448"/>
            <a:ext cx="914" cy="292608"/>
          </a:xfrm>
          <a:prstGeom prst="line">
            <a:avLst/>
          </a:prstGeom>
          <a:noFill/>
          <a:ln w="15875">
            <a:solidFill>
              <a:srgbClr val="20242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15984" y="3877056"/>
            <a:ext cx="2231136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25712" y="4041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9153144" y="4361688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previous records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parking history</a:t>
            </a:r>
            <a:endParaRPr lang="en-US" sz="890" dirty="0"/>
          </a:p>
        </p:txBody>
      </p:sp>
      <p:sp>
        <p:nvSpPr>
          <p:cNvPr id="33" name="Shape 31"/>
          <p:cNvSpPr/>
          <p:nvPr/>
        </p:nvSpPr>
        <p:spPr>
          <a:xfrm>
            <a:off x="10131552" y="5102352"/>
            <a:ext cx="914" cy="237744"/>
          </a:xfrm>
          <a:prstGeom prst="line">
            <a:avLst/>
          </a:prstGeom>
          <a:noFill/>
          <a:ln w="13335">
            <a:solidFill>
              <a:srgbClr val="20242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847088" y="5340096"/>
            <a:ext cx="8394192" cy="914"/>
          </a:xfrm>
          <a:prstGeom prst="line">
            <a:avLst/>
          </a:prstGeom>
          <a:noFill/>
          <a:ln w="12700">
            <a:solidFill>
              <a:srgbClr val="2024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95848" y="5340096"/>
            <a:ext cx="914" cy="283464"/>
          </a:xfrm>
          <a:prstGeom prst="line">
            <a:avLst/>
          </a:prstGeom>
          <a:noFill/>
          <a:ln w="16510">
            <a:solidFill>
              <a:srgbClr val="20242C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528920" y="5623560"/>
            <a:ext cx="1133856" cy="420624"/>
          </a:xfrm>
          <a:prstGeom prst="ellipse">
            <a:avLst/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28920" y="5623560"/>
            <a:ext cx="1133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/ EXIT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566928" y="646480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 ·  Vehicle Parking Management System  ·  OOP CA-3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11478463" y="6355080"/>
            <a:ext cx="310896" cy="3108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78463" y="6355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Outputs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1426464"/>
            <a:ext cx="5870448" cy="4526280"/>
          </a:xfrm>
          <a:prstGeom prst="roundRect">
            <a:avLst>
              <a:gd name="adj" fmla="val 1616"/>
            </a:avLst>
          </a:prstGeom>
          <a:solidFill>
            <a:srgbClr val="20242C"/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691640"/>
            <a:ext cx="128016" cy="12801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576" y="169164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26464" y="1691640"/>
            <a:ext cx="128016" cy="128016"/>
          </a:xfrm>
          <a:prstGeom prst="ellipse">
            <a:avLst/>
          </a:prstGeom>
          <a:solidFill>
            <a:srgbClr val="1FAFA0"/>
          </a:solidFill>
          <a:ln w="12700">
            <a:solidFill>
              <a:srgbClr val="1FA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75104"/>
            <a:ext cx="534009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SMARTPARK — MAIN MENU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D9E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ADD VEHICLE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D9E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SEE PARKED VEHICLE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D9E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CALCULATE BILL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D9E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HISTORY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D9E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EXIT</a:t>
            </a:r>
            <a:endParaRPr lang="en-US" sz="1040" dirty="0"/>
          </a:p>
          <a:p>
            <a:pPr marL="0" indent="0">
              <a:buNone/>
            </a:pP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Choice: 1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plate: &lt;plate&gt;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Category: &lt;EV / non-commercial / commercial / heavy&gt;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FA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Assigned slot: &lt;slot&gt;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FA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saved.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7068312" y="1481328"/>
            <a:ext cx="4434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70064" y="1682496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PARKED VEHICLE VIEW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370064" y="1975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plate  →  parking location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068312" y="2761488"/>
            <a:ext cx="4434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0064" y="2962656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VIEW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370064" y="3255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vehicle  →  calculated charge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068312" y="4041648"/>
            <a:ext cx="4434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70064" y="4242816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VIEW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7370064" y="4535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parking records read from storage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7086600" y="532180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is a proposal/mockup. Actual values depend on the working C++ implementation.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566928" y="646480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 ·  Vehicle Parking Management System  ·  OOP CA-3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11478463" y="6355080"/>
            <a:ext cx="310896" cy="3108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78463" y="6355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4F3863-477C-B62E-2F1D-1CDF578A2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670227"/>
            <a:ext cx="4971526" cy="8473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02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of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build — organized by implementation phase.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0120" y="2651760"/>
            <a:ext cx="8503920" cy="914"/>
          </a:xfrm>
          <a:prstGeom prst="line">
            <a:avLst/>
          </a:prstGeom>
          <a:noFill/>
          <a:ln w="19050">
            <a:solidFill>
              <a:srgbClr val="3A3F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3172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hierarchy, UML diagram, module boundaries.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33172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35661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registration, parking location, billing and history.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233172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09360" y="3200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35661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parking records and the ASCII parking layout.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0" y="233172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44000" y="3200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Docs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0" y="35661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menu flows, billing cases and stored records.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Vinayak  ·  Roll No. 2506033  ·  SY B.Tech AI/ML  ·  IICT, MGM University</a:t>
            </a:r>
            <a:endParaRPr lang="en-US" sz="1100" dirty="0"/>
          </a:p>
        </p:txBody>
      </p:sp>
      <p:sp>
        <p:nvSpPr>
          <p:cNvPr id="23" name="Shape circle"/>
          <p:cNvSpPr/>
          <p:nvPr/>
        </p:nvSpPr>
        <p:spPr>
          <a:xfrm>
            <a:off x="11478463" y="6355080"/>
            <a:ext cx="310896" cy="3108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pagenum"/>
          <p:cNvSpPr/>
          <p:nvPr/>
        </p:nvSpPr>
        <p:spPr>
          <a:xfrm>
            <a:off x="11478463" y="6355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1008</Words>
  <Application>Microsoft Office PowerPoint</Application>
  <PresentationFormat>Widescreen</PresentationFormat>
  <Paragraphs>219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MGM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SmartPark</dc:title>
  <dc:subject>SmartPark - Vehicle Parking Management System</dc:subject>
  <dc:creator>Vinayak</dc:creator>
  <cp:lastModifiedBy>vinayak navlekar</cp:lastModifiedBy>
  <cp:revision>4</cp:revision>
  <dcterms:created xsi:type="dcterms:W3CDTF">2026-09-23T17:27:41Z</dcterms:created>
  <dcterms:modified xsi:type="dcterms:W3CDTF">2026-09-24T02:40:56Z</dcterms:modified>
</cp:coreProperties>
</file>